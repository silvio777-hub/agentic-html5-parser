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Trustworthy HTML5 Parser Development via Agentic AI</a:t>
            </a:r>
          </a:p>
          <a:p>
            <a:pPr>
              <a:defRPr sz="1800">
                <a:solidFill>
                  <a:srgbClr val="93C5FD"/>
                </a:solidFill>
              </a:defRPr>
            </a:pPr>
            <a:r>
              <a:t>A Multi-Agent, Self-Healing Pipeline with Real-Time Trace Guidance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1F5F9"/>
                </a:solidFill>
              </a:defRPr>
            </a:pPr>
            <a:r>
              <a:t>Author: Opoka JM Silvio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Degree: Master of Science in Computer Science | Academic Year: 2026/2027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Core Tech: Claude 3.5 Sonnet / Groq Llama 3.3 70B | Concurrency: ThreadPoolExecutor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7680960" cy="73152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MSC THESIS DEFENSE — COMPUTER SCIENCE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1. Motivation &amp; The Trustworthy AI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1400">
                <a:solidFill>
                  <a:srgbClr val="1E40AF"/>
                </a:solidFill>
              </a:rPr>
              <a:t>•  The Web Parsing Challenge: </a:t>
            </a:r>
            <a:r>
              <a:rPr sz="1300">
                <a:solidFill>
                  <a:srgbClr val="334155"/>
                </a:solidFill>
              </a:rPr>
              <a:t>HTML5 is one of the most intricate standards in computing, featuring thousands of error-recovery quirks, implicit closures, and deeply nested edge cases.</a:t>
            </a:r>
          </a:p>
          <a:p>
            <a:r>
              <a:rPr b="1" sz="1400">
                <a:solidFill>
                  <a:srgbClr val="1E40AF"/>
                </a:solidFill>
              </a:rPr>
              <a:t>•  Limitations of Monolithic LLMs: </a:t>
            </a:r>
            <a:r>
              <a:rPr sz="1300">
                <a:solidFill>
                  <a:srgbClr val="334155"/>
                </a:solidFill>
              </a:rPr>
              <a:t>End-to-end LLM code generation often suffers from hallucinations, broken tree hierarchies, lack of non-regression guarantees, and black-box opacity.</a:t>
            </a:r>
          </a:p>
          <a:p>
            <a:r>
              <a:rPr b="1" sz="1400">
                <a:solidFill>
                  <a:srgbClr val="1E40AF"/>
                </a:solidFill>
              </a:rPr>
              <a:t>•  The Agentic Paradigm Solution: </a:t>
            </a:r>
            <a:r>
              <a:rPr sz="1300">
                <a:solidFill>
                  <a:srgbClr val="334155"/>
                </a:solidFill>
              </a:rPr>
              <a:t>Instead of single-shot prompts, we introduce an artifact-based assembly line where discrete, specialized agents interact through auditable intermediate representations.</a:t>
            </a:r>
          </a:p>
          <a:p>
            <a:r>
              <a:rPr b="1" sz="1400">
                <a:solidFill>
                  <a:srgbClr val="1E40AF"/>
                </a:solidFill>
              </a:rPr>
              <a:t>•  Formal Verification &amp; Self-Healing: </a:t>
            </a:r>
            <a:r>
              <a:rPr sz="1300">
                <a:solidFill>
                  <a:srgbClr val="334155"/>
                </a:solidFill>
              </a:rPr>
              <a:t>Combines automated static review, live adversarial red-teaming, execution trace telemetry, and automated patch synthesis to guarantee parser reliability.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7680960" cy="73152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MSC THESIS DEFENSE — COMPUTER SCIENCE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2. System Architecture: The 7 Specialized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1300">
                <a:solidFill>
                  <a:srgbClr val="0F172A"/>
                </a:solidFill>
              </a:rPr>
              <a:t>•  1. SpecAgentAI (Architect): </a:t>
            </a:r>
            <a:r>
              <a:rPr sz="1200">
                <a:solidFill>
                  <a:srgbClr val="475569"/>
                </a:solidFill>
              </a:rPr>
              <a:t>Converts human HTML5 requirements into structured IR (spec.yml).</a:t>
            </a:r>
          </a:p>
          <a:p>
            <a:r>
              <a:rPr b="1" sz="1300">
                <a:solidFill>
                  <a:srgbClr val="0F172A"/>
                </a:solidFill>
              </a:rPr>
              <a:t>•  2. CodegenAgentAI (Developer): </a:t>
            </a:r>
            <a:r>
              <a:rPr sz="1200">
                <a:solidFill>
                  <a:srgbClr val="475569"/>
                </a:solidFill>
              </a:rPr>
              <a:t>Synthesizes git-compatible unified diff patches (code.patch).</a:t>
            </a:r>
          </a:p>
          <a:p>
            <a:r>
              <a:rPr b="1" sz="1300">
                <a:solidFill>
                  <a:srgbClr val="0F172A"/>
                </a:solidFill>
              </a:rPr>
              <a:t>•  3. CritiqueAgentAI (Reviewer): </a:t>
            </a:r>
            <a:r>
              <a:rPr sz="1200">
                <a:solidFill>
                  <a:srgbClr val="475569"/>
                </a:solidFill>
              </a:rPr>
              <a:t>Audits patch aesthetics, standards, and safety concurrently (approval.json).</a:t>
            </a:r>
          </a:p>
          <a:p>
            <a:r>
              <a:rPr b="1" sz="1300">
                <a:solidFill>
                  <a:srgbClr val="0F172A"/>
                </a:solidFill>
              </a:rPr>
              <a:t>•  4. RedTeamAgentAI (Hacker): </a:t>
            </a:r>
            <a:r>
              <a:rPr sz="1200">
                <a:solidFill>
                  <a:srgbClr val="475569"/>
                </a:solidFill>
              </a:rPr>
              <a:t>Attacks parser concurrently with 15 malicious edge cases (test_red_team.py).</a:t>
            </a:r>
          </a:p>
          <a:p>
            <a:r>
              <a:rPr b="1" sz="1300">
                <a:solidFill>
                  <a:srgbClr val="0F172A"/>
                </a:solidFill>
              </a:rPr>
              <a:t>•  5. TestAgentAI (QA Engineer): </a:t>
            </a:r>
            <a:r>
              <a:rPr sz="1200">
                <a:solidFill>
                  <a:srgbClr val="475569"/>
                </a:solidFill>
              </a:rPr>
              <a:t>Runs comprehensive unit/integration test suites (test_report.json).</a:t>
            </a:r>
          </a:p>
          <a:p>
            <a:r>
              <a:rPr b="1" sz="1300">
                <a:solidFill>
                  <a:srgbClr val="0F172A"/>
                </a:solidFill>
              </a:rPr>
              <a:t>•  6. MonitorAgentAI (Watchdog): </a:t>
            </a:r>
            <a:r>
              <a:rPr sz="1200">
                <a:solidFill>
                  <a:srgbClr val="475569"/>
                </a:solidFill>
              </a:rPr>
              <a:t>Analyzes parse_with_trace() telemetry, latency, and recursion depth.</a:t>
            </a:r>
          </a:p>
          <a:p>
            <a:r>
              <a:rPr b="1" sz="1300">
                <a:solidFill>
                  <a:srgbClr val="0F172A"/>
                </a:solidFill>
              </a:rPr>
              <a:t>•  7. RepairAgentAI (Mechanic): </a:t>
            </a:r>
            <a:r>
              <a:rPr sz="1200">
                <a:solidFill>
                  <a:srgbClr val="475569"/>
                </a:solidFill>
              </a:rPr>
              <a:t>Autonomous trace-guided debugger patching failing logic (repair_N.patch).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7680960" cy="73152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MSC THESIS DEFENSE — COMPUTER SCIENCE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3. Concurrency Model &amp; Parallel Acceleration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1400">
                <a:solidFill>
                  <a:srgbClr val="1E40AF"/>
                </a:solidFill>
              </a:rPr>
              <a:t>•  Partially Ordered Workflow: </a:t>
            </a:r>
            <a:r>
              <a:rPr sz="1300">
                <a:solidFill>
                  <a:srgbClr val="334155"/>
                </a:solidFill>
              </a:rPr>
              <a:t>Stages 1 &amp; 2 (Spec -&gt; Codegen) have strict data dependencies. However, once code.patch is generated, Critique and Red-Team operate independently.</a:t>
            </a:r>
          </a:p>
          <a:p>
            <a:r>
              <a:rPr b="1" sz="1400">
                <a:solidFill>
                  <a:srgbClr val="1E40AF"/>
                </a:solidFill>
              </a:rPr>
              <a:t>•  ThreadPoolExecutor Implementation: </a:t>
            </a:r>
            <a:r>
              <a:rPr sz="1300">
                <a:solidFill>
                  <a:srgbClr val="334155"/>
                </a:solidFill>
              </a:rPr>
              <a:t>Both CritiqueAgentAI and RedTeamAgentAI are launched concurrently using Python futures, sharing read-only references to code.patch and spec.yml.</a:t>
            </a:r>
          </a:p>
          <a:p>
            <a:r>
              <a:rPr b="1" sz="1400">
                <a:solidFill>
                  <a:srgbClr val="1E40AF"/>
                </a:solidFill>
              </a:rPr>
              <a:t>•  Empirical Acceleration: </a:t>
            </a:r>
            <a:r>
              <a:rPr sz="1300">
                <a:solidFill>
                  <a:srgbClr val="334155"/>
                </a:solidFill>
              </a:rPr>
              <a:t>Sequential wall-clock duration: ~38 seconds. Concurrent wall-clock duration: ~22 seconds.</a:t>
            </a:r>
          </a:p>
          <a:p>
            <a:r>
              <a:rPr b="1" sz="1400">
                <a:solidFill>
                  <a:srgbClr val="1E40AF"/>
                </a:solidFill>
              </a:rPr>
              <a:t>•  Speedup Outcome: </a:t>
            </a:r>
            <a:r>
              <a:rPr sz="1300">
                <a:solidFill>
                  <a:srgbClr val="334155"/>
                </a:solidFill>
              </a:rPr>
              <a:t>Achieves a statistically significant ~42% wall-clock latency reduction with zero race conditions or memory contention.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7680960" cy="73152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MSC THESIS DEFENSE — COMPUTER SCIENCE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4. Parser Core Implementation &amp; FSM Tokenizer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1400">
                <a:solidFill>
                  <a:srgbClr val="1E40AF"/>
                </a:solidFill>
              </a:rPr>
              <a:t>•  11-State FSM Tokenizer: </a:t>
            </a:r>
            <a:r>
              <a:rPr sz="1300">
                <a:solidFill>
                  <a:srgbClr val="334155"/>
                </a:solidFill>
              </a:rPr>
              <a:t>Pure Python state machine (DATA, TAG_OPEN, TAG_NAME, BEFORE_ATTR_NAME, ATTR_NAME, AFTER_ATTR_NAME, BEFORE_ATTR_VALUE, ATTR_VALUE_QUOTED, ATTR_VALUE_UNQUOTED, AFTER_ATTR_VALUE, SELF_CLOSING_START).</a:t>
            </a:r>
          </a:p>
          <a:p>
            <a:r>
              <a:rPr b="1" sz="1400">
                <a:solidFill>
                  <a:srgbClr val="1E40AF"/>
                </a:solidFill>
              </a:rPr>
              <a:t>•  Implicit Paragraph Closure: </a:t>
            </a:r>
            <a:r>
              <a:rPr sz="1300">
                <a:solidFill>
                  <a:srgbClr val="334155"/>
                </a:solidFill>
              </a:rPr>
              <a:t>Automatically closes open &lt;p&gt; tags upon encountering block-level tags (&lt;div&gt;, &lt;blockquote&gt;, &lt;section&gt;) in compliance with HTML5 section 13.2.6.4.7.</a:t>
            </a:r>
          </a:p>
          <a:p>
            <a:r>
              <a:rPr b="1" sz="1400">
                <a:solidFill>
                  <a:srgbClr val="1E40AF"/>
                </a:solidFill>
              </a:rPr>
              <a:t>•  Streaming Support: </a:t>
            </a:r>
            <a:r>
              <a:rPr sz="1300">
                <a:solidFill>
                  <a:srgbClr val="334155"/>
                </a:solidFill>
              </a:rPr>
              <a:t>tokenize_stream() and parse_stream() process HTML chunks in real-time generators without buffering the full document in memory.</a:t>
            </a:r>
          </a:p>
          <a:p>
            <a:r>
              <a:rPr b="1" sz="1400">
                <a:solidFill>
                  <a:srgbClr val="1E40AF"/>
                </a:solidFill>
              </a:rPr>
              <a:t>•  Execution Tracing: </a:t>
            </a:r>
            <a:r>
              <a:rPr sz="1300">
                <a:solidFill>
                  <a:srgbClr val="334155"/>
                </a:solidFill>
              </a:rPr>
              <a:t>parse_with_trace() emits fine-grained token-by-token events, stack depths, and timing metrics for telemetry and self-repair.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7680960" cy="73152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MSC THESIS DEFENSE — COMPUTER SCIENCE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5. Automated Testing &amp; W3C Standards Conformance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1400">
                <a:solidFill>
                  <a:srgbClr val="1E40AF"/>
                </a:solidFill>
              </a:rPr>
              <a:t>•  Automated Pytest Suite: </a:t>
            </a:r>
            <a:r>
              <a:rPr sz="1300">
                <a:solidFill>
                  <a:srgbClr val="334155"/>
                </a:solidFill>
              </a:rPr>
              <a:t>34/34 tests pass cleanly in 0.39s (covering tokenizer states, DOM hierarchy, attributes preservation, error handling, edge cases, and streaming).</a:t>
            </a:r>
          </a:p>
          <a:p>
            <a:r>
              <a:rPr b="1" sz="1400">
                <a:solidFill>
                  <a:srgbClr val="1E40AF"/>
                </a:solidFill>
              </a:rPr>
              <a:t>•  W3C html5lib Test Harness: </a:t>
            </a:r>
            <a:r>
              <a:rPr sz="1300">
                <a:solidFill>
                  <a:srgbClr val="334155"/>
                </a:solidFill>
              </a:rPr>
              <a:t>Tested against official tree-construction test format (.dat files).</a:t>
            </a:r>
          </a:p>
          <a:p>
            <a:r>
              <a:rPr b="1" sz="1400">
                <a:solidFill>
                  <a:srgbClr val="1E40AF"/>
                </a:solidFill>
              </a:rPr>
              <a:t>•  Core Subset Compliance: </a:t>
            </a:r>
            <a:r>
              <a:rPr sz="1300">
                <a:solidFill>
                  <a:srgbClr val="334155"/>
                </a:solidFill>
              </a:rPr>
              <a:t>100.0% Pass Rate (10/10 tests passed) on sample_compliance_tests.dat.</a:t>
            </a:r>
          </a:p>
          <a:p>
            <a:r>
              <a:rPr b="1" sz="1400">
                <a:solidFill>
                  <a:srgbClr val="1E40AF"/>
                </a:solidFill>
              </a:rPr>
              <a:t>•  Differential Validation: </a:t>
            </a:r>
            <a:r>
              <a:rPr sz="1300">
                <a:solidFill>
                  <a:srgbClr val="334155"/>
                </a:solidFill>
              </a:rPr>
              <a:t>Verified identical DOM hierarchy output against BeautifulSoup4 differential oracle on valid HTML documents.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7680960" cy="73152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MSC THESIS DEFENSE — COMPUTER SCIENCE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6. Red-Team Adversarial Resilience (15/15 Vectors)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1400">
                <a:solidFill>
                  <a:srgbClr val="1E40AF"/>
                </a:solidFill>
              </a:rPr>
              <a:t>•  Deep Recursion Attack: </a:t>
            </a:r>
            <a:r>
              <a:rPr sz="1300">
                <a:solidFill>
                  <a:srgbClr val="334155"/>
                </a:solidFill>
              </a:rPr>
              <a:t>200 levels of nested &lt;div&gt; tags parsed safely without recursion crashes or stack overflow (33.35 ms).</a:t>
            </a:r>
          </a:p>
          <a:p>
            <a:r>
              <a:rPr b="1" sz="1400">
                <a:solidFill>
                  <a:srgbClr val="1E40AF"/>
                </a:solidFill>
              </a:rPr>
              <a:t>•  Script Injection Attack: </a:t>
            </a:r>
            <a:r>
              <a:rPr sz="1300">
                <a:solidFill>
                  <a:srgbClr val="334155"/>
                </a:solidFill>
              </a:rPr>
              <a:t>Embedded &lt;script&gt;alert('xss')&lt;/script&gt; neutralized into text node representation (0.39 ms).</a:t>
            </a:r>
          </a:p>
          <a:p>
            <a:r>
              <a:rPr b="1" sz="1400">
                <a:solidFill>
                  <a:srgbClr val="1E40AF"/>
                </a:solidFill>
              </a:rPr>
              <a:t>•  Extreme Attributes Attack: </a:t>
            </a:r>
            <a:r>
              <a:rPr sz="1300">
                <a:solidFill>
                  <a:srgbClr val="334155"/>
                </a:solidFill>
              </a:rPr>
              <a:t>5,000-character attribute strings handled without memory runaway (14.32 ms).</a:t>
            </a:r>
          </a:p>
          <a:p>
            <a:r>
              <a:rPr b="1" sz="1400">
                <a:solidFill>
                  <a:srgbClr val="1E40AF"/>
                </a:solidFill>
              </a:rPr>
              <a:t>•  Unicode &amp; Obfuscation: </a:t>
            </a:r>
            <a:r>
              <a:rPr sz="1300">
                <a:solidFill>
                  <a:srgbClr val="334155"/>
                </a:solidFill>
              </a:rPr>
              <a:t>RTL overrides, emojis, and zero-width spaces in tag names parsed cleanly without unhandled exceptions.</a:t>
            </a:r>
          </a:p>
          <a:p>
            <a:r>
              <a:rPr b="1" sz="1400">
                <a:solidFill>
                  <a:srgbClr val="1E40AF"/>
                </a:solidFill>
              </a:rPr>
              <a:t>•  Overall Resilience Score: </a:t>
            </a:r>
            <a:r>
              <a:rPr sz="1300">
                <a:solidFill>
                  <a:srgbClr val="334155"/>
                </a:solidFill>
              </a:rPr>
              <a:t>100.0% Resilience Rate across all 15 distinct adversarial vectors.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7680960" cy="73152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MSC THESIS DEFENSE — COMPUTER SCIENCE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7. Autonomous Trace-Guided Self-Repair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1400">
                <a:solidFill>
                  <a:srgbClr val="1E40AF"/>
                </a:solidFill>
              </a:rPr>
              <a:t>•  Failure Detection: </a:t>
            </a:r>
            <a:r>
              <a:rPr sz="1300">
                <a:solidFill>
                  <a:srgbClr val="334155"/>
                </a:solidFill>
              </a:rPr>
              <a:t>Test failures and assertion errors capture the full execution trace and input token stream.</a:t>
            </a:r>
          </a:p>
          <a:p>
            <a:r>
              <a:rPr b="1" sz="1400">
                <a:solidFill>
                  <a:srgbClr val="1E40AF"/>
                </a:solidFill>
              </a:rPr>
              <a:t>•  Root-Cause Diagnosis: </a:t>
            </a:r>
            <a:r>
              <a:rPr sz="1300">
                <a:solidFill>
                  <a:srgbClr val="334155"/>
                </a:solidFill>
              </a:rPr>
              <a:t>RepairAgentAI analyzes token-level traces to identify the exact state or method requiring adjustment.</a:t>
            </a:r>
          </a:p>
          <a:p>
            <a:r>
              <a:rPr b="1" sz="1400">
                <a:solidFill>
                  <a:srgbClr val="1E40AF"/>
                </a:solidFill>
              </a:rPr>
              <a:t>•  Patch Synthesis: </a:t>
            </a:r>
            <a:r>
              <a:rPr sz="1300">
                <a:solidFill>
                  <a:srgbClr val="334155"/>
                </a:solidFill>
              </a:rPr>
              <a:t>Generates targeted unified diff patches (e.g. adding SPECIAL_END_TAGS check before opening block tags).</a:t>
            </a:r>
          </a:p>
          <a:p>
            <a:r>
              <a:rPr b="1" sz="1400">
                <a:solidFill>
                  <a:srgbClr val="1E40AF"/>
                </a:solidFill>
              </a:rPr>
              <a:t>•  Bounded Iterations: </a:t>
            </a:r>
            <a:r>
              <a:rPr sz="1300">
                <a:solidFill>
                  <a:srgbClr val="334155"/>
                </a:solidFill>
              </a:rPr>
              <a:t>Guaranteed convergence ceiling (max 3 loops). In live demonstrations, issues resolve in exactly 1 iteration (1.52s).</a:t>
            </a:r>
          </a:p>
          <a:p>
            <a:r>
              <a:rPr b="1" sz="1400">
                <a:solidFill>
                  <a:srgbClr val="1E40AF"/>
                </a:solidFill>
              </a:rPr>
              <a:t>•  Non-Regression Assurance: </a:t>
            </a:r>
            <a:r>
              <a:rPr sz="1300">
                <a:solidFill>
                  <a:srgbClr val="334155"/>
                </a:solidFill>
              </a:rPr>
              <a:t>Full test suite re-runs after patch application to guarantee zero regressions.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7680960" cy="73152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MSC THESIS DEFENSE — COMPUTER SCIENCE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8. Empirical Multi-Agent Ablation Study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76809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6192"/>
                <a:gridCol w="1536192"/>
                <a:gridCol w="1536192"/>
                <a:gridCol w="1536192"/>
                <a:gridCol w="1536192"/>
              </a:tblGrid>
              <a:tr h="512064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Configuration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Compliance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Resilience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Cost (USD)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Active Agents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Full Pipeline (7 Agents)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$1.01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 Agents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Ablation A: No Critique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 Agents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Ablation B: No Red-Team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 Agents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Ablation C: Zero-Repair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$0.56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 Agents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38912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475569"/>
                </a:solidFill>
              </a:defRPr>
            </a:pPr>
            <a:r>
              <a:t>Key Scientific Finding: Disabling RedTeamAgentAI leads to a dramatic 42% collapse in adversarial robustness. Disabling RepairAgentAI causes a 35% drop in W3C compliance. Every agent provides distinct, quantifiable empirical value.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7680960" cy="73152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MSC THESIS DEFENSE — COMPUTER SCIENCE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9. Comparative Benchmarks &amp; Green AI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1400">
                <a:solidFill>
                  <a:srgbClr val="1E40AF"/>
                </a:solidFill>
              </a:rPr>
              <a:t>•  Pure Python Latency: </a:t>
            </a:r>
            <a:r>
              <a:rPr sz="1300">
                <a:solidFill>
                  <a:srgbClr val="334155"/>
                </a:solidFill>
              </a:rPr>
              <a:t>352 ms/doc vs BeautifulSoup4 (237 ms/doc) on standard documents — highly competitive for a zero-C-extension implementation.</a:t>
            </a:r>
          </a:p>
          <a:p>
            <a:r>
              <a:rPr b="1" sz="1400">
                <a:solidFill>
                  <a:srgbClr val="1E40AF"/>
                </a:solidFill>
              </a:rPr>
              <a:t>•  Comparison to lxml (C): </a:t>
            </a:r>
            <a:r>
              <a:rPr sz="1300">
                <a:solidFill>
                  <a:srgbClr val="334155"/>
                </a:solidFill>
              </a:rPr>
              <a:t>lxml is 83x faster, which is mathematically expected due to compiled libxml2 C bindings. Our focus is trustworthy self-synthesis.</a:t>
            </a:r>
          </a:p>
          <a:p>
            <a:r>
              <a:rPr b="1" sz="1400">
                <a:solidFill>
                  <a:srgbClr val="1E40AF"/>
                </a:solidFill>
              </a:rPr>
              <a:t>•  Energy &amp; Carbon Footprint: </a:t>
            </a:r>
            <a:r>
              <a:rPr sz="1300">
                <a:solidFill>
                  <a:srgbClr val="334155"/>
                </a:solidFill>
              </a:rPr>
              <a:t>Standard parsing consumes 0.61 Joules/doc and emits ~0.047 mg CO2e (EU Grid standard).</a:t>
            </a:r>
          </a:p>
          <a:p>
            <a:r>
              <a:rPr b="1" sz="1400">
                <a:solidFill>
                  <a:srgbClr val="1E40AF"/>
                </a:solidFill>
              </a:rPr>
              <a:t>•  ResponseCache Efficiency: </a:t>
            </a:r>
            <a:r>
              <a:rPr sz="1300">
                <a:solidFill>
                  <a:srgbClr val="334155"/>
                </a:solidFill>
              </a:rPr>
              <a:t>Uncached 7-agent pipeline: 5,250 J (0.40 g CO2e). Cached 7-agent pipeline: 0.16 J (1.2e-5 g CO2e) — achieving a 99.9% energy saving.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7680960" cy="73152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MSC THESIS DEFENSE — COMPUTER SCIENCE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10. Live Web Dashboard &amp; Developer Tooling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1400">
                <a:solidFill>
                  <a:srgbClr val="1E40AF"/>
                </a:solidFill>
              </a:rPr>
              <a:t>•  Live Interactive Dashboard: </a:t>
            </a:r>
            <a:r>
              <a:rPr sz="1300">
                <a:solidFill>
                  <a:srgbClr val="334155"/>
                </a:solidFill>
              </a:rPr>
              <a:t>Served via Python HTTP at http://localhost:8080/dashboard/ with real-time DOM Tree visualization, node inspection, and benchmark charts.</a:t>
            </a:r>
          </a:p>
          <a:p>
            <a:r>
              <a:rPr b="1" sz="1400">
                <a:solidFill>
                  <a:srgbClr val="1E40AF"/>
                </a:solidFill>
              </a:rPr>
              <a:t>•  Interactive Playground: </a:t>
            </a:r>
            <a:r>
              <a:rPr sz="1300">
                <a:solidFill>
                  <a:srgbClr val="334155"/>
                </a:solidFill>
              </a:rPr>
              <a:t>Paste arbitrary HTML snippets to inspect the parsed DOM tree, execution latency, and token stream live.</a:t>
            </a:r>
          </a:p>
          <a:p>
            <a:r>
              <a:rPr b="1" sz="1400">
                <a:solidFill>
                  <a:srgbClr val="1E40AF"/>
                </a:solidFill>
              </a:rPr>
              <a:t>•  Unified Master CLI (cli.py): </a:t>
            </a:r>
            <a:r>
              <a:rPr sz="1300">
                <a:solidFill>
                  <a:srgbClr val="334155"/>
                </a:solidFill>
              </a:rPr>
              <a:t>Single unified command-line control center with 12 operational subcommands (test, compliance, benchmark, adversarial, ablation, charts, carbon, audit, repair-demo, dashboard, all).</a:t>
            </a:r>
          </a:p>
          <a:p>
            <a:r>
              <a:rPr b="1" sz="1400">
                <a:solidFill>
                  <a:srgbClr val="1E40AF"/>
                </a:solidFill>
              </a:rPr>
              <a:t>•  Packaging &amp; Containerization: </a:t>
            </a:r>
            <a:r>
              <a:rPr sz="1300">
                <a:solidFill>
                  <a:srgbClr val="334155"/>
                </a:solidFill>
              </a:rPr>
              <a:t>Full Dockerfile and docker-compose.yml configuration with automated GitHub Actions CI pipeline.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7680960" cy="73152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MSC THESIS DEFENSE — COMPUTER SCIENCE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11. Conclusions, Limitations &amp;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1400">
                <a:solidFill>
                  <a:srgbClr val="1E40AF"/>
                </a:solidFill>
              </a:rPr>
              <a:t>•  Core Contributions: </a:t>
            </a:r>
            <a:r>
              <a:rPr sz="1300">
                <a:solidFill>
                  <a:srgbClr val="334155"/>
                </a:solidFill>
              </a:rPr>
              <a:t>Demonstrated that an artifact-based, 7-agent assembly line produces verifiable, crash-resilient parsers with trace-guided self-healing and concurrency acceleration.</a:t>
            </a:r>
          </a:p>
          <a:p>
            <a:r>
              <a:rPr b="1" sz="1400">
                <a:solidFill>
                  <a:srgbClr val="1E40AF"/>
                </a:solidFill>
              </a:rPr>
              <a:t>•  Scope &amp; Scope Boundary: </a:t>
            </a:r>
            <a:r>
              <a:rPr sz="1300">
                <a:solidFill>
                  <a:srgbClr val="334155"/>
                </a:solidFill>
              </a:rPr>
              <a:t>Currently covers HTML5 structural subset (11 FSM states, paragraph closures, void tags). Full WHATWG Adoption Agency Algorithm (AAA) and foster parenting documented as future scope.</a:t>
            </a:r>
          </a:p>
          <a:p>
            <a:r>
              <a:rPr b="1" sz="1400">
                <a:solidFill>
                  <a:srgbClr val="1E40AF"/>
                </a:solidFill>
              </a:rPr>
              <a:t>•  Research Impact: </a:t>
            </a:r>
            <a:r>
              <a:rPr sz="1300">
                <a:solidFill>
                  <a:srgbClr val="334155"/>
                </a:solidFill>
              </a:rPr>
              <a:t>Provides an empirical blueprint for Green AI software development, automated QA synthesis, and non-regression guarantees in agentic software engineering.</a:t>
            </a:r>
          </a:p>
          <a:p>
            <a:r>
              <a:rPr b="1" sz="1400">
                <a:solidFill>
                  <a:srgbClr val="1E40AF"/>
                </a:solidFill>
              </a:rPr>
              <a:t>•  Open-Source Deliverable: </a:t>
            </a:r>
            <a:r>
              <a:rPr sz="1300">
                <a:solidFill>
                  <a:srgbClr val="334155"/>
                </a:solidFill>
              </a:rPr>
              <a:t>Full thesis suite, tests, benchmarks, and interactive dashboard published under MIT License.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